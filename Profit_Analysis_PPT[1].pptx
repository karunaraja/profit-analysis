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1418-F79B-5429-EE7E-9C1C30FD6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A1113-59D3-ECA3-DC74-FE1E1B8FB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82422-530C-062E-EE0E-2CDB4FF7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85ABF-0E3A-9D42-7646-391F858A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ED39-9B26-DD7D-0058-F8727C35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6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6A19-DB5F-0EC0-F581-640F00CD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296D-0D8D-35DF-DEE6-8B4A99A2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03BB0-71AC-7364-5B5D-7F58806F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B8936-1E85-9CBE-F98E-5FC13501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224B-BB61-75CD-626C-975926EE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67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A2A9-7106-7136-E6A7-447F2D2D8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FBF3-F158-8694-6ED0-E74EF457C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2CA82-A14E-FB80-0084-EC47B626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B7612-53B8-EB75-694C-8B57FEA1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5643A-2041-2E17-6570-CB3CEC8F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87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7C19-DBDA-3E17-E280-F72407C6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D77F-D362-32BF-FA62-0796D6E87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9CD34-389C-5BD0-A5EB-EE5996FAA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71481-3DC2-F759-78B3-BA3E0A47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93492-6934-726C-2730-02A858DD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7F761-7C66-D591-42EE-8455877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4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0280-76C8-F201-493A-D9B179AA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8B82C-2972-657C-9884-BA852818B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D52F5-B17B-6980-8F4A-4BD02B35F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A2577-09A5-6234-3122-6ADF83318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B0F15-DE34-2107-6B37-8F28453C7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89007-700E-2C9C-35FE-0FECC114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EB04B-B9D6-3A7D-8EB2-F24BFA9A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26197-85D1-4670-D673-1CF5FDEA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3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F326-AB5A-1D35-5E05-74D0367C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454C8-A33B-D9D3-4AF8-9443FEF1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FE529-DC79-0329-9121-FC0BF2C1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88188-65D3-B712-0CE5-8AE171F6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03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79082-762A-9DB6-7E6A-73E199F1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E57C9F-FF97-6B3B-9570-FE6B11B6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11F66-18F7-CCD0-2EE5-A90D20FA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1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D8A4-4C67-7F2B-2534-454AAA447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1E529-DDE3-E75A-982A-E2552E77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912FE-E0A4-29C9-C119-794E4F646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D2275-930E-47F4-AA31-FC6405DF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2022-393E-E386-4352-9193CDA4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156D8-0117-1E4D-F6E0-9577F1D92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20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FB3C-1F02-61E9-1E95-4221988B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75478-0D86-DBFB-09E5-FAF163FEE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D6667-AC88-9FFB-8DDD-F2A7C67AF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20EC9-3443-B38E-DAD8-7D60E66E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1802D-1C36-BE2C-A0E8-8E7A954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CD651-B514-00C8-FFFE-D04A5ABB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24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5ECA-D73E-69DA-ADCD-1239F156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B562D-CC1A-8E06-AAE4-278B0DD27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15655-599F-A3EA-86CC-9F7257F9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19058-A104-F681-72E9-E09F3D4C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08B86-6F4D-2382-4204-A85D1B79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9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79EC86-6703-3D0E-9330-CFFCE230C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0183B-6EAE-63EC-D58D-7EC474270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BC57-E027-DB0D-5A87-6B7D0D7B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1FBF6-2419-23FE-10E3-DA40E234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3E38E-A781-9811-18F9-94B1F88D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38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239C6-5F6B-2754-5491-A171B51A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3E0C3-70FE-45E3-23C6-E4FCD1431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3D72-C497-20DE-EE41-9DF28E2E5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C9F87-8E7A-4901-B50C-B01B0BAD6FDE}" type="datetimeFigureOut">
              <a:rPr lang="en-IN" smtClean="0"/>
              <a:t>26-Sep-2025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3E2A4-B35F-643D-6818-80BE68673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22D5-087A-251D-4685-CC8CF97EE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98A50-6D00-44A7-8B3E-2CB4BFA4B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8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4448-1E87-46FC-1FC4-EAB950C98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Profit Analysis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0CFD9-4B2F-73BD-9271-D6F6C2D22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143" y="3602038"/>
            <a:ext cx="11769212" cy="2838091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algn="l"/>
            <a:r>
              <a:rPr lang="en-US" b="1" dirty="0"/>
              <a:t>                           Name                   : </a:t>
            </a:r>
            <a:r>
              <a:rPr lang="en-US" sz="2000" dirty="0"/>
              <a:t>Karunakaran R </a:t>
            </a:r>
          </a:p>
          <a:p>
            <a:pPr algn="l"/>
            <a:r>
              <a:rPr lang="en-US" b="1" dirty="0"/>
              <a:t>                           Email id               : </a:t>
            </a:r>
            <a:r>
              <a:rPr lang="en-US" sz="2000" dirty="0"/>
              <a:t>rkarunakaranraja@gmail.com</a:t>
            </a:r>
            <a:endParaRPr lang="en-US" dirty="0"/>
          </a:p>
          <a:p>
            <a:pPr algn="l"/>
            <a:r>
              <a:rPr lang="en-US" b="1" dirty="0"/>
              <a:t>                           Batch                   : </a:t>
            </a:r>
            <a:r>
              <a:rPr lang="en-US" sz="2000" dirty="0"/>
              <a:t>12</a:t>
            </a:r>
            <a:r>
              <a:rPr lang="en-US" sz="2000" baseline="30000" dirty="0"/>
              <a:t>th</a:t>
            </a:r>
            <a:r>
              <a:rPr lang="en-US" sz="2000" dirty="0"/>
              <a:t> May CDA</a:t>
            </a:r>
          </a:p>
          <a:p>
            <a:pPr algn="l"/>
            <a:r>
              <a:rPr lang="en-US" b="1" dirty="0"/>
              <a:t>                           Project id            : </a:t>
            </a:r>
            <a:r>
              <a:rPr lang="en-US" sz="2000" dirty="0"/>
              <a:t>PTID-CDA-SEP-25-722</a:t>
            </a:r>
          </a:p>
          <a:p>
            <a:pPr algn="l"/>
            <a:r>
              <a:rPr lang="en-US" b="1" dirty="0"/>
              <a:t>                          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717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11BB-A0E1-8355-0D49-2B654152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Agenda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A8DD-B3F4-97DB-CC5B-0E6889AA1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4" y="1140541"/>
            <a:ext cx="9682316" cy="3765756"/>
          </a:xfrm>
        </p:spPr>
        <p:txBody>
          <a:bodyPr>
            <a:normAutofit/>
          </a:bodyPr>
          <a:lstStyle/>
          <a:p>
            <a:r>
              <a:rPr lang="en-US" sz="2000" dirty="0"/>
              <a:t>Introduction</a:t>
            </a:r>
          </a:p>
          <a:p>
            <a:r>
              <a:rPr lang="en-US" sz="2000" dirty="0"/>
              <a:t>Objectives</a:t>
            </a:r>
          </a:p>
          <a:p>
            <a:r>
              <a:rPr lang="en-US" sz="2000" dirty="0"/>
              <a:t>Dataset </a:t>
            </a:r>
          </a:p>
          <a:p>
            <a:r>
              <a:rPr lang="en-US" sz="2000" dirty="0"/>
              <a:t>Tools &amp; Methodology</a:t>
            </a:r>
          </a:p>
          <a:p>
            <a:r>
              <a:rPr lang="en-US" sz="2000" dirty="0"/>
              <a:t>Excel</a:t>
            </a:r>
          </a:p>
          <a:p>
            <a:r>
              <a:rPr lang="en-US" sz="2000" dirty="0"/>
              <a:t>Tableau Dashboard</a:t>
            </a:r>
          </a:p>
          <a:p>
            <a:r>
              <a:rPr lang="en-US" sz="2000" dirty="0"/>
              <a:t>Insights</a:t>
            </a:r>
          </a:p>
          <a:p>
            <a:r>
              <a:rPr lang="en-US" sz="2000" dirty="0"/>
              <a:t>Recommendations</a:t>
            </a:r>
          </a:p>
          <a:p>
            <a:r>
              <a:rPr lang="en-US" sz="2000" dirty="0"/>
              <a:t>Conclusion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7694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4072-0254-4173-6232-D6BD2637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Introduction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6992-37E2-022E-5CB3-0A1940E0C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264" y="1337187"/>
            <a:ext cx="9812594" cy="4050890"/>
          </a:xfrm>
        </p:spPr>
        <p:txBody>
          <a:bodyPr>
            <a:normAutofit/>
          </a:bodyPr>
          <a:lstStyle/>
          <a:p>
            <a:r>
              <a:rPr lang="en-US" sz="2000" dirty="0"/>
              <a:t>Dataset contains 50 startups from New York, California, Florida.</a:t>
            </a:r>
          </a:p>
          <a:p>
            <a:r>
              <a:rPr lang="en-US" sz="2000" dirty="0"/>
              <a:t>Features: R&amp;D Spend, Administration Spend, Marketing Spend, State, Profit.</a:t>
            </a:r>
          </a:p>
        </p:txBody>
      </p:sp>
    </p:spTree>
    <p:extLst>
      <p:ext uri="{BB962C8B-B14F-4D97-AF65-F5344CB8AC3E}">
        <p14:creationId xmlns:p14="http://schemas.microsoft.com/office/powerpoint/2010/main" val="183738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F7E0-4589-0720-A1D7-C80230C8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Objectives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267E8-6BAD-31CC-CC4F-1779F5BA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284" y="1347019"/>
            <a:ext cx="9377516" cy="4829944"/>
          </a:xfrm>
        </p:spPr>
        <p:txBody>
          <a:bodyPr>
            <a:normAutofit/>
          </a:bodyPr>
          <a:lstStyle/>
          <a:p>
            <a:r>
              <a:rPr lang="en-US" sz="2000" dirty="0"/>
              <a:t>Identify factors affecting Profit.</a:t>
            </a:r>
          </a:p>
          <a:p>
            <a:r>
              <a:rPr lang="en-US" sz="2000" dirty="0"/>
              <a:t>Predict Profit for given inputs.</a:t>
            </a:r>
          </a:p>
          <a:p>
            <a:r>
              <a:rPr lang="en-US" sz="2000" dirty="0"/>
              <a:t>Visualize insights using Tableau.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375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ADA7-0931-5571-3EF8-77D2D7FC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22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Dataset 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9922-16E9-26A3-32CA-FF6357064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315" y="1209368"/>
            <a:ext cx="10245213" cy="5024284"/>
          </a:xfrm>
        </p:spPr>
        <p:txBody>
          <a:bodyPr>
            <a:normAutofit/>
          </a:bodyPr>
          <a:lstStyle/>
          <a:p>
            <a:r>
              <a:rPr lang="en-US" sz="2000" dirty="0"/>
              <a:t>Total Records: 50</a:t>
            </a:r>
          </a:p>
          <a:p>
            <a:r>
              <a:rPr lang="en-US" sz="2000" dirty="0"/>
              <a:t>Attributes:</a:t>
            </a:r>
          </a:p>
          <a:p>
            <a:pPr marL="0" indent="0">
              <a:buNone/>
            </a:pPr>
            <a:r>
              <a:rPr lang="en-US" sz="2000" dirty="0"/>
              <a:t>                   R&amp;D Spending</a:t>
            </a:r>
          </a:p>
          <a:p>
            <a:pPr marL="0" indent="0">
              <a:buNone/>
            </a:pPr>
            <a:r>
              <a:rPr lang="en-US" sz="2000" dirty="0"/>
              <a:t>                   Administration Spending</a:t>
            </a:r>
          </a:p>
          <a:p>
            <a:pPr marL="0" indent="0">
              <a:buNone/>
            </a:pPr>
            <a:r>
              <a:rPr lang="en-US" sz="2000" dirty="0"/>
              <a:t>                   Marketing Spending</a:t>
            </a:r>
          </a:p>
          <a:p>
            <a:pPr marL="0" indent="0">
              <a:buNone/>
            </a:pPr>
            <a:r>
              <a:rPr lang="en-US" sz="2000" dirty="0"/>
              <a:t>                   State</a:t>
            </a:r>
          </a:p>
          <a:p>
            <a:pPr marL="0" indent="0">
              <a:buNone/>
            </a:pPr>
            <a:r>
              <a:rPr lang="en-US" sz="2000" dirty="0"/>
              <a:t>                   Profit</a:t>
            </a:r>
          </a:p>
        </p:txBody>
      </p:sp>
    </p:spTree>
    <p:extLst>
      <p:ext uri="{BB962C8B-B14F-4D97-AF65-F5344CB8AC3E}">
        <p14:creationId xmlns:p14="http://schemas.microsoft.com/office/powerpoint/2010/main" val="260356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413F-28F2-3D75-8CD2-AFD7FAE4D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4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Tools &amp; Methodology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27D6-8B9B-C589-6057-DF892D5D9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181" y="1484670"/>
            <a:ext cx="8433619" cy="4385188"/>
          </a:xfrm>
        </p:spPr>
        <p:txBody>
          <a:bodyPr>
            <a:normAutofit/>
          </a:bodyPr>
          <a:lstStyle/>
          <a:p>
            <a:r>
              <a:rPr lang="en-US" sz="2000" dirty="0"/>
              <a:t>Excel → Regression Analysis and Predict the profit for new input values.</a:t>
            </a:r>
          </a:p>
          <a:p>
            <a:r>
              <a:rPr lang="en-US" sz="2000" dirty="0"/>
              <a:t>Tableau → Visualizations &amp; Dashboard.</a:t>
            </a:r>
          </a:p>
        </p:txBody>
      </p:sp>
    </p:spTree>
    <p:extLst>
      <p:ext uri="{BB962C8B-B14F-4D97-AF65-F5344CB8AC3E}">
        <p14:creationId xmlns:p14="http://schemas.microsoft.com/office/powerpoint/2010/main" val="13016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AC7F-081E-0570-B442-99513051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Excel </a:t>
            </a:r>
            <a:endParaRPr lang="en-IN" sz="2400" b="1" dirty="0">
              <a:latin typeface="+mn-lt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CAB8F0D-549D-729A-6E06-4925D863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826" y="1366684"/>
            <a:ext cx="9760974" cy="4896464"/>
          </a:xfrm>
        </p:spPr>
        <p:txBody>
          <a:bodyPr/>
          <a:lstStyle/>
          <a:p>
            <a:r>
              <a:rPr lang="en-IN" sz="2000" dirty="0"/>
              <a:t>Regression Analysis</a:t>
            </a:r>
          </a:p>
          <a:p>
            <a:pPr marL="0" indent="0">
              <a:buNone/>
            </a:pPr>
            <a:r>
              <a:rPr lang="en-IN" sz="2000" dirty="0"/>
              <a:t>                  Dependent Variable      : Profit</a:t>
            </a:r>
          </a:p>
          <a:p>
            <a:pPr marL="0" indent="0">
              <a:buNone/>
            </a:pPr>
            <a:r>
              <a:rPr lang="en-IN" sz="2000" dirty="0"/>
              <a:t>                  Independent Variables : R&amp;D, Administration, Marketing</a:t>
            </a:r>
          </a:p>
          <a:p>
            <a:pPr marL="0" indent="0">
              <a:buNone/>
            </a:pPr>
            <a:r>
              <a:rPr lang="en-IN" sz="2000" dirty="0"/>
              <a:t>                  Regression Equation     : Profit = Intercept + (Coeff _ R&amp;D*R&amp;D _ spending) + (Coeff _ Admin*Administration _ spending) + (Coeff _ Marketing*Marketing _ spending)</a:t>
            </a:r>
          </a:p>
          <a:p>
            <a:r>
              <a:rPr lang="en-US" sz="2000" dirty="0"/>
              <a:t>Profit Prediction</a:t>
            </a:r>
          </a:p>
          <a:p>
            <a:pPr marL="0" indent="0">
              <a:buNone/>
            </a:pPr>
            <a:r>
              <a:rPr lang="en-US" sz="2000" dirty="0"/>
              <a:t>                  Predicted results using regression equation: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74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EFA837-475A-073D-84DB-977549EC7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7" y="422787"/>
            <a:ext cx="10471354" cy="5754176"/>
          </a:xfrm>
        </p:spPr>
      </p:pic>
    </p:spTree>
    <p:extLst>
      <p:ext uri="{BB962C8B-B14F-4D97-AF65-F5344CB8AC3E}">
        <p14:creationId xmlns:p14="http://schemas.microsoft.com/office/powerpoint/2010/main" val="396560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6F0E-B3C1-41BF-59B3-E83B3D2D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Tableau dashboard</a:t>
            </a:r>
            <a:endParaRPr lang="en-IN" sz="2400" b="1" dirty="0"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BE916F-0496-FEB9-9E8F-4961422CF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18" y="1406013"/>
            <a:ext cx="9092381" cy="4770950"/>
          </a:xfrm>
        </p:spPr>
      </p:pic>
    </p:spTree>
    <p:extLst>
      <p:ext uri="{BB962C8B-B14F-4D97-AF65-F5344CB8AC3E}">
        <p14:creationId xmlns:p14="http://schemas.microsoft.com/office/powerpoint/2010/main" val="369495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D13E-EC46-BBEA-94E0-CBB980A1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Insights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DFAC-8FFB-0385-8AFF-6F59810E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1019" y="1356853"/>
            <a:ext cx="8957187" cy="4070553"/>
          </a:xfrm>
        </p:spPr>
        <p:txBody>
          <a:bodyPr>
            <a:normAutofit/>
          </a:bodyPr>
          <a:lstStyle/>
          <a:p>
            <a:r>
              <a:rPr lang="en-US" sz="2000" dirty="0"/>
              <a:t>R&amp;D spending is the biggest profit driver.</a:t>
            </a:r>
          </a:p>
          <a:p>
            <a:r>
              <a:rPr lang="en-US" sz="2000" dirty="0"/>
              <a:t>Marketing has moderate impact.</a:t>
            </a:r>
          </a:p>
          <a:p>
            <a:r>
              <a:rPr lang="en-US" sz="2000" dirty="0"/>
              <a:t>Administration cost has minimal effect.</a:t>
            </a:r>
          </a:p>
          <a:p>
            <a:r>
              <a:rPr lang="en-US" sz="2000" dirty="0"/>
              <a:t>Certain states contribute more to profit.</a:t>
            </a:r>
          </a:p>
        </p:txBody>
      </p:sp>
    </p:spTree>
    <p:extLst>
      <p:ext uri="{BB962C8B-B14F-4D97-AF65-F5344CB8AC3E}">
        <p14:creationId xmlns:p14="http://schemas.microsoft.com/office/powerpoint/2010/main" val="313758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AA81-6946-910E-C475-62AFCD71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latin typeface="+mn-lt"/>
              </a:rPr>
              <a:t>Recommendations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903B-2610-E235-13A4-920BE5BE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026" y="1543665"/>
            <a:ext cx="8541774" cy="4633298"/>
          </a:xfrm>
        </p:spPr>
        <p:txBody>
          <a:bodyPr>
            <a:normAutofit/>
          </a:bodyPr>
          <a:lstStyle/>
          <a:p>
            <a:r>
              <a:rPr lang="en-US" sz="2000" dirty="0"/>
              <a:t>Increase R&amp;D investment for long-term profit.</a:t>
            </a:r>
          </a:p>
          <a:p>
            <a:r>
              <a:rPr lang="en-US" sz="2000" dirty="0"/>
              <a:t>Optimize marketing efficiency.</a:t>
            </a:r>
          </a:p>
          <a:p>
            <a:r>
              <a:rPr lang="en-US" sz="2000" dirty="0"/>
              <a:t>Control administration expenses.</a:t>
            </a:r>
          </a:p>
          <a:p>
            <a:r>
              <a:rPr lang="en-US" sz="2000" dirty="0"/>
              <a:t>Focus on high-profit states for expansion.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0162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F4C0-5686-2660-D13E-BD7D06C9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Conclusion</a:t>
            </a:r>
            <a:endParaRPr lang="en-IN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458B-EA09-D02B-45D1-06F2AF14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438" y="1288026"/>
            <a:ext cx="9269361" cy="2625213"/>
          </a:xfrm>
        </p:spPr>
        <p:txBody>
          <a:bodyPr>
            <a:normAutofit/>
          </a:bodyPr>
          <a:lstStyle/>
          <a:p>
            <a:r>
              <a:rPr lang="en-US" sz="2000" dirty="0"/>
              <a:t>Regression analysis identified R&amp;D as the key factor.</a:t>
            </a:r>
          </a:p>
          <a:p>
            <a:r>
              <a:rPr lang="en-US" sz="2000" dirty="0"/>
              <a:t>Tableau visualizations confirmed insights.</a:t>
            </a:r>
          </a:p>
          <a:p>
            <a:r>
              <a:rPr lang="en-US" sz="2000" dirty="0"/>
              <a:t>Predictions help in future planning.</a:t>
            </a:r>
          </a:p>
          <a:p>
            <a:r>
              <a:rPr lang="en-US" sz="2000" dirty="0"/>
              <a:t>Data-driven strategy ensures better profit allocation.</a:t>
            </a:r>
          </a:p>
        </p:txBody>
      </p:sp>
    </p:spTree>
    <p:extLst>
      <p:ext uri="{BB962C8B-B14F-4D97-AF65-F5344CB8AC3E}">
        <p14:creationId xmlns:p14="http://schemas.microsoft.com/office/powerpoint/2010/main" val="2215608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2992-5F94-1B42-70FE-8ED1776B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Thank you</a:t>
            </a:r>
            <a:endParaRPr lang="en-IN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717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291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Profit Analysis  </vt:lpstr>
      <vt:lpstr>Agenda</vt:lpstr>
      <vt:lpstr>Introduction</vt:lpstr>
      <vt:lpstr>Objectives</vt:lpstr>
      <vt:lpstr>Dataset </vt:lpstr>
      <vt:lpstr>Tools &amp; Methodology</vt:lpstr>
      <vt:lpstr>Excel </vt:lpstr>
      <vt:lpstr>PowerPoint Presentation</vt:lpstr>
      <vt:lpstr>Tableau dashboard</vt:lpstr>
      <vt:lpstr>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Karan</dc:creator>
  <cp:lastModifiedBy>Karuna Karan</cp:lastModifiedBy>
  <cp:revision>10</cp:revision>
  <dcterms:created xsi:type="dcterms:W3CDTF">2025-09-16T05:56:38Z</dcterms:created>
  <dcterms:modified xsi:type="dcterms:W3CDTF">2025-09-26T15:35:09Z</dcterms:modified>
</cp:coreProperties>
</file>